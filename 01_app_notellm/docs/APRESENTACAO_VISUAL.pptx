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201168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PetroAnalytics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FFCD00"/>
                </a:solidFill>
                <a:latin typeface="Segoe UI"/>
              </a:rPr>
              <a:t>Benchmark Petrobras vs 6 pares — o produto, tela por 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F5EE"/>
                </a:solidFill>
                <a:latin typeface="Segoe UI"/>
              </a:rPr>
              <a:t>7 empresas · 14 trimestres (2023Q1–2026Q2) · 871 fontes catalogadas · 272 fatos com fonte, data, unidade e confiança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F5EE"/>
                </a:solidFill>
                <a:latin typeface="Segoe UI"/>
              </a:rPr>
              <a:t>DQS 75.5 · 147 projeções · 0 erros de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BFD9CC"/>
                </a:solidFill>
                <a:latin typeface="Segoe UI"/>
              </a:rPr>
              <a:t>Telas capturadas do painel rodando (Chrome headless) — nenhum mock-up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Visão executiva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Leitura do trimestre e gráficos de apoio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0_visao_execu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O painel abre em uma pergunta, não em uma lista de tabelas: como está o benchmark neste trimestre.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Comparação entre empresas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Matriz do trimestre, mesma 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1_compa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Sete empresas em uma matriz só — receita, EBITDA, lucro, fluxo de caixa, investimento e dívida, em USD bilhões.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Evolução histórica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Série temporal das empresas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3_evolucao_histo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O gráfico é a resposta para “como foi a evolução”, não uma foto de hoje.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Indicadores expandidos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12 indicadores, com fórmula e dependências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2_expan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Cada indicador derivado declara de quais rubricas depende — o número não é uma caixa-preta.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Efetivo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Âncora anual de headcount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4_ef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Efetivo é o único indicador obrigatório de todo o setor, e é anual: vira âncora de conferência do resto.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Projeções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Real × projetado com IC 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8_proje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332" y="1097280"/>
            <a:ext cx="4586287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01332" y="6044183"/>
            <a:ext cx="4586287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A projeção é desenhada separada do fato e sempre rotulada — nunca entra na matriz como se fosse número publicado.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Gestão ETL — o que rodou e quanto leu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M8.12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6_gestao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01" y="1097280"/>
            <a:ext cx="10191749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8601" y="6044183"/>
            <a:ext cx="10191749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O parser não é uma caixa-preta: cada PDF diz quantas páginas ele percorreu, quantas tabelas achou e qual o throughput.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Evolução da qualidade no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M7.23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9_qua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O scorecard guardava só o último estado. A série mostra se a qualidade subiu, caiu ou estagnou — e quem mais mudou.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7_audi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110" y="1097280"/>
            <a:ext cx="5060731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4110" y="6044183"/>
            <a:ext cx="5060731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O que exige olho humano, com triagem: aceitar, rejeitar, ignorar. Cada decisão fica na trilha e pode virar relatório em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Gestão de fontes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5_fontes_gest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Cada documento catalogado com origem, hash e status — e o CRUD que permite corrigir o acervo.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Glossário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12 indicadores definidos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10_gloss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1097280"/>
            <a:ext cx="73380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25446" y="6044183"/>
            <a:ext cx="73380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A6472"/>
                </a:solidFill>
                <a:latin typeface="Segoe UI"/>
              </a:rPr>
              <a:t>Por que a despesa é negativa e o CAPEX positivo está escrito, com a fórmula de cada derivado.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82296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O produto inteiro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76072"/>
            <a:ext cx="105156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D7E9DF"/>
                </a:solidFill>
                <a:latin typeface="Segoe UI"/>
              </a:rPr>
              <a:t>11 telas, um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CD0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82296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5A6472"/>
                </a:solidFill>
                <a:latin typeface="Segoe UI"/>
              </a:rPr>
              <a:t>PetroAnalytics PoC · benchmark Petrobras vs pares</a:t>
            </a:r>
          </a:p>
        </p:txBody>
      </p:sp>
      <p:pic>
        <p:nvPicPr>
          <p:cNvPr id="8" name="Picture 7" descr="aba_00_visao_execu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885" y="1161288"/>
            <a:ext cx="1869948" cy="1246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245364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Visão executiva</a:t>
            </a:r>
          </a:p>
        </p:txBody>
      </p:sp>
      <p:pic>
        <p:nvPicPr>
          <p:cNvPr id="10" name="Picture 9" descr="aba_01_compa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646" y="1161288"/>
            <a:ext cx="1869948" cy="1246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0" y="245364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Comparação entre empresas</a:t>
            </a:r>
          </a:p>
        </p:txBody>
      </p:sp>
      <p:pic>
        <p:nvPicPr>
          <p:cNvPr id="12" name="Picture 11" descr="aba_03_evolucao_histor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405" y="1161288"/>
            <a:ext cx="1869948" cy="1246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0999" y="245364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Evolução histórica</a:t>
            </a:r>
          </a:p>
        </p:txBody>
      </p:sp>
      <p:pic>
        <p:nvPicPr>
          <p:cNvPr id="14" name="Picture 13" descr="aba_02_expandid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885" y="2791968"/>
            <a:ext cx="1869948" cy="1246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408432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Indicadores expandidos</a:t>
            </a:r>
          </a:p>
        </p:txBody>
      </p:sp>
      <p:pic>
        <p:nvPicPr>
          <p:cNvPr id="16" name="Picture 15" descr="aba_04_efetiv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646" y="2791968"/>
            <a:ext cx="1869948" cy="12466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06240" y="408432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Efetivo</a:t>
            </a:r>
          </a:p>
        </p:txBody>
      </p:sp>
      <p:pic>
        <p:nvPicPr>
          <p:cNvPr id="18" name="Picture 17" descr="aba_08_projeco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4021" y="2791968"/>
            <a:ext cx="1168717" cy="1246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0999" y="408432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Projeções</a:t>
            </a:r>
          </a:p>
        </p:txBody>
      </p:sp>
      <p:pic>
        <p:nvPicPr>
          <p:cNvPr id="20" name="Picture 19" descr="aba_06_gestao_et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284" y="4422648"/>
            <a:ext cx="2597150" cy="1246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571500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Gestão ETL — o que rodou e quanto leu</a:t>
            </a:r>
          </a:p>
        </p:txBody>
      </p:sp>
      <p:pic>
        <p:nvPicPr>
          <p:cNvPr id="22" name="Picture 21" descr="aba_09_qualida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646" y="4422648"/>
            <a:ext cx="1869948" cy="12466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6240" y="571500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Evolução da qualidade no tempo</a:t>
            </a:r>
          </a:p>
        </p:txBody>
      </p:sp>
      <p:pic>
        <p:nvPicPr>
          <p:cNvPr id="24" name="Picture 23" descr="aba_07_auditori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570" y="4422648"/>
            <a:ext cx="1289619" cy="12466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0999" y="5715000"/>
            <a:ext cx="379475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989320"/>
            <a:ext cx="113842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432A"/>
                </a:solidFill>
                <a:latin typeface="Segoe UI"/>
              </a:rPr>
              <a:t>7 empresas · 272 fatos · DQS 75.5 · 147 projeções · 0 erros de carga · 114 testes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