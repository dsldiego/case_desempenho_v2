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201168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PetroAnalytics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51560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FFCD00"/>
                </a:solidFill>
                <a:latin typeface="Segoe UI"/>
              </a:rPr>
              <a:t>Benchmark Petrobras vs 6 pares · intelligence financière et opérationnelle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51560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7 empresas  ·  14 trimestres (2023Q1–2026Q2)  ·  871 fontes catalogadas  ·  272 fatos com fonte, data,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8F5EE"/>
                </a:solidFill>
                <a:latin typeface="Segoe UI"/>
              </a:rPr>
              <a:t>unidade e confiança  ·  DQS 75.5  ·  147 projeções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BFD9CC"/>
                </a:solidFill>
                <a:latin typeface="Segoe UI"/>
              </a:rPr>
              <a:t>MVC-W · SQLite · Python · painel web + GUI desktop · relatório de auditoria em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12 blocos — problema, cadeia, arquitetura, evidência e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O problema e a utilidade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Quem usa e como usa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A cadeia de ponta a ponta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Arquitetura e tecnologia (e o que foi descartado por medição)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Resultados medidos · matriz do último trimestre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Qualidade: DQS, evolução no tempo, fila priorizada, alerta cross-sectional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Projeção estatística e auditoria de governança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Descoberta do que foi anunciado · relatório de auditoria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Limites assumidos ·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8028431" y="548640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548640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548640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1.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Sete empresas, sete formatos — e nenhum número comparável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O mesmo fato é publicado de formas incompatíveis: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PDF com layout a perder · planilha com três separadores · release em inglês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Valor em dólar ou em real · trimestre rotulado de formas diferentes entre RI e SEC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Comparar Petrobras com seis pares exige planilha na mão — e gera erro de versão.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O problema de governança: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Um número sem procedência não pode ir para decisão. Aqui todo fato carrega fonte, data, unidade e confiança.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E o que não tem confiança suficiente vai para revisão humana — nunca para o gráfico como se fosse verdade.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48640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541264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598017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empresas comparadas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548640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5541264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598017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formatos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548640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5541264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598017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erros de carga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/>
          <p:nvPr/>
        </p:nvSpPr>
        <p:spPr>
          <a:xfrm>
            <a:off x="9546335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2624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5768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2. A utilidade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que o sistema entrega que uma planilha não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871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fontes catalogadas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272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fatos financeiros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fatos operacionais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75.5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DQS médio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5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5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5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projeções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4231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Comparabilidade — mesmo indicador, mesma unidade, mesma moeda em toda a série.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Descoberta — saber o que foi anunciado e ainda não está no acervo.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Confiança — DQS por empresa×trimestre e fila priorizada do que exige análise.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Projeção — 3 trimestres à frente, método escolhido por backtesting, com IC95.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Governança — relatório de auditoria em PDF com as decisões do período.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78992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Perguntas que o sistema responde sozinho: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de onde veio este número · ele é confiável · o que ainda precisa de olho humano · o próximo trimestre já saiu?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3. Quem usa e como 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Fluxo trimestral de verdade: soltar o arquivo e rodar um comando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928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036"/>
                <a:gridCol w="2737658"/>
                <a:gridCol w="1596967"/>
                <a:gridCol w="5247178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Passo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Comando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Quem faz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 que entrega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1. Atualizar o acervo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app_main.py etl --novos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Analista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varre o Container e processa só o que é novo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2. Conferir novidade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app_main.py descoberta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Analista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o 3T26 já foi protocolado? o número estruturado já existe?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3. Ler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app_main.py web --serve · gui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Gestor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painel de 11 abas (web) ou 8 (desktop)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4. Distribuir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app_main.py email --para ...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Analista/Gestor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e-mail com HTML + PNG + CSV anexados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5. Auditar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app_main.py auditoria relatorio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Auditor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PDF com as decisões do período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206240"/>
            <a:ext cx="107899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O incremental é idempotente: rodar de novo processa 0 arquivos. Carga inicial 108 arquivos em 353 s → 1 arquivo novo em 4,3 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Rectangle 49"/>
          <p:cNvSpPr/>
          <p:nvPr/>
        </p:nvSpPr>
        <p:spPr>
          <a:xfrm>
            <a:off x="8028431" y="512064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3672" y="512064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" y="5120640"/>
            <a:ext cx="373989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37549" y="1463040"/>
            <a:ext cx="975914" cy="86868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06771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75993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45215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14437" y="1463040"/>
            <a:ext cx="975914" cy="86868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3658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2880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2102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1324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0546" y="1463040"/>
            <a:ext cx="975914" cy="868680"/>
          </a:xfrm>
          <a:prstGeom prst="rect">
            <a:avLst/>
          </a:prstGeom>
          <a:solidFill>
            <a:srgbClr val="3F7F5F"/>
          </a:solidFill>
          <a:ln w="12700">
            <a:solidFill>
              <a:srgbClr val="3F7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63040"/>
            <a:ext cx="975914" cy="86868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4. Como funciona — a cadeia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Cada etapa tem uma garantia; nenhuma delas é opcional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Inventário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1110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46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Varredura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888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1324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Classificação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do documento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2666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2102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Parser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PyMuPDF/planilha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3444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880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De-Para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PT/EN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222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3658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Plausibilidade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5001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4437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Carga com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fonte+confiança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79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5215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Auditoria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6557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5993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DQS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335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6771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Projeção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8113" y="1737360"/>
            <a:ext cx="54864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D00"/>
                </a:solidFill>
                <a:latin typeface="Segoe UI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7549" y="1463040"/>
            <a:ext cx="975914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Painel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27432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Idempotência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reexecutar não duplica nem regrada fato (SHA-256 + prioridade de confiança);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Rastreabilidade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todo fato tem id_fonte — sem fonte ele vai para a fila de revisão, não para a matriz;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▪  Projeção ≠ fato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▪  projeção vive em tb_projecao, fora da matriz, sempre rotulada.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512064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5175503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561441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execuções do ETL registradas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33672" y="512064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3672" y="5175503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33672" y="561441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erros de carga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5120640"/>
            <a:ext cx="373989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5175503"/>
            <a:ext cx="373989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5614416"/>
            <a:ext cx="373989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tabelas no banco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5.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MVC-W com responsabilidade única e injeção por construtor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8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552"/>
                <a:gridCol w="1193552"/>
                <a:gridCol w="3856091"/>
                <a:gridCol w="5049643"/>
              </a:tblGrid>
              <a:tr h="65836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Camada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Pasta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Exemplos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models/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12 tabelas SQLite, De-Para, glossário, repositórios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database · repositories · depara · glossario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Worker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workers/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todo o processamento; nenhuma escrita de tela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scanner · parse_pdf · parse_tab · etl · quality_score · forecast · sec_edgar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Controller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controllers/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casos de uso finos, sem regra de negócio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Pipeline · Analytics · Source · Forecast · Mail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View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views/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web (Plotly + JS), desktop (PySide6), servidor REST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web_app · gui_app · web_server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206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Padrões: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MVC-W · repositório · injeção por construtor · SRP · type hints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Migrações idempotentes: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ALTER TABLE ADD COLUMN em bancos antigos, sem rebuild — por isso a base de 3 meses atrás ainda abre.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6. Tecnologia — e por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Escolha medida, não preferência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104"/>
                <a:gridCol w="2019857"/>
                <a:gridCol w="6885878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Tecnologia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Onde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Por quê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Python 3.12+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back-end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ecossistema de dados pronto para PDF e rede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SQLite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persistência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arquivo único, transacional, auditável — adequado a PoC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PyMuPDF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extração de PDF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o mais rápido no acervo (2,2 s vs 6–23 s) e acha tabelas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pdfplumber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fallback de tabela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quando o MuPDF não acha tabela válida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Plotly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Web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interativo e exporta PNG sem navegador extra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PySide6 + pyqtgraph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GUI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desktop nativo com gráficos de alta performance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reportlab + Kaleido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PDF e PNG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entregáveis sem depender de navegador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python-pptx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esta apresentação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deck gerado do banco — não pode divergir do painel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pytest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regressão real: 20 bugs encontrados por teste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Destaque honesto: as bibliotecas Rust de PDF (PDFOxide, pdf-inspector) foram benchmarkadas e NÃO adotadas — são redundantes com o MuPDF (mesmas extrações) e 2,8× mais lentas.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/>
          <p:nvPr/>
        </p:nvSpPr>
        <p:spPr>
          <a:xfrm>
            <a:off x="9546335" y="521208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521208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2624" y="521208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521208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521208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7. Benchmark de leitura de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Medido no acervo real (11 PDFs, DFs Petrobras + BP +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49"/>
                <a:gridCol w="1737360"/>
                <a:gridCol w="1520189"/>
                <a:gridCol w="2171700"/>
                <a:gridCol w="2606039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Biblioteca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Texto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MB/s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Tabelas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Veredito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PyMuPDF 1.28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2,2 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5,3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31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PRINCIPAL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pdf-inspector (Rust)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2,5 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4,6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não adotado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PDFOxide 0.3 (Rust)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6,2 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1,9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0 nos DFs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só fallback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pypdf 6.19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16,3 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0,7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7× mais lento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pdfminer.six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22,8 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0,5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10× mais lento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749039"/>
            <a:ext cx="1078992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Conclusão medida: as libs Rust são redundantes, não melhores — as extrações caem nas mesmas chaves (rubrica, período). Trocar a biblioteca principal não ganharia um único fato e custaria velocidade e detecção de tabelas.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21208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526694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70585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PDFs medidos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521208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526694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1.420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570585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páginas lidas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521208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526694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4.3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570585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páginas/seg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521208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526694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738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570585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tabelas detectadas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5" y="521208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5" y="526694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37.9%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5" y="570585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cobertura do acervo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8. Resultados medidos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Matriz 2026Q2 (USD bi) — 7 empresas, mesma 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11292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853"/>
                <a:gridCol w="1274998"/>
                <a:gridCol w="1274998"/>
                <a:gridCol w="1274998"/>
                <a:gridCol w="1274998"/>
                <a:gridCol w="1274998"/>
                <a:gridCol w="1274998"/>
                <a:gridCol w="1274998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Indicador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Petrobras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Shell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BP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ExxonMobil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TotalEnergies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Equinor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Receita líquida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33,6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94,7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69,1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67,2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114,5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57,3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35,2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EBITDA ajustado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18,6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20,7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13,2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Lucro líquido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10,4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10,8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3,9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12,2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14,5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5,4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4,8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Fluxo de caixa oper.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12,2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21,4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10,9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45,3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32,3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10,9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9,5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Investimentos (CAPEX)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0,01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4,03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3,09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4,54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3,45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Dívida líquida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60,4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41,8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22,3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19,7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794760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Segoe UI"/>
              </a:rPr>
              <a:t>Unidade: USD bilhões, com a moeda de origem detectada por regex no nome do arquivo e conversão BRL→USD pela PTAX de fechamento do trimestre.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O CAPEX da Petrobras aparece como 0,01 — e está errado.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A comparação com os pares denunciou o defeito de extração: a aba "Investimentos" da planilha tem linhas de projeto, não o consolidado. O alerta cross-sectional isolou como P1 sem ninguém comparar tabelas à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/>
          <p:nvPr/>
        </p:nvSpPr>
        <p:spPr>
          <a:xfrm>
            <a:off x="9925811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1052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6291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80160"/>
            <a:ext cx="1842515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9. Estado do acervo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que existe hoje, com o status de cada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871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fontes catalogadas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6291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6291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6291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com arquivo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processadas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1052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1052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D97706"/>
                </a:solidFill>
                <a:latin typeface="Segoe UI"/>
              </a:rPr>
              <a:t>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1052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sem 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D97706"/>
                </a:solidFill>
                <a:latin typeface="Segoe UI"/>
              </a:rP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não processadas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5811" y="1280160"/>
            <a:ext cx="1842515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5811" y="1335024"/>
            <a:ext cx="1842515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5811" y="1773936"/>
            <a:ext cx="1842515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erros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5146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Documento sem carga tem motivo gravado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"não achou número no documento" ≠ "perdeu para um fato já gravado com confiança maior" — o painel diz qual dos dois foi.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PDF narrativo não entra no ETL numérico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transcrição, slides, remarks e webcast são catalogados mas pulados — no acervo, 51 dos 52 pulados são narrativos.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Idempotência real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SHA-256 por arquivo; um fato existente com confiança maior nunca é rebaixado por uma extração pior.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10. Qualidade — o DQS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Cada empresa × trimestre recebe uma nota 0–100 auditável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557783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19"/>
                <a:gridCol w="1115568"/>
                <a:gridCol w="1673352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Dimensão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Peso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Média da base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Completude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40.6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Plausibilidade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98.5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Consistência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93.8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Rastreabilidade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100.0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Tempestividade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64.2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DQS médio ponderado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75.5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3258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Classificação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CONFIÁVEL ≥ 80 · REVISAR 60–79 · NÃO CONFIÁVEL &lt; 60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Hoje: 16 CONFIÁVEL · 51 REVISAR · 0 NÃO CONFIÁVEL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Rastreabilidade 100,0 é real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todos os fatos financeiros têm id_fonte válido — e integridade referencial confere 0 órfãos.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DQS baixo é mapa de trabalho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tempestividade 64,2 diz "faltou o 2T26 de alguém" (é data de publicação); completude 40,6 diz "falta rubrica" — e aí é 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48640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Regra de ouro: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confiança baixa vai para revisão humana, nunca para o painel como se fosse verdade.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11. Evolução da qualidade no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scorecard guardava só o último estado — a história se perdia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651084"/>
            <a:ext cx="402336" cy="412155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2023Q1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376764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99032" y="2605872"/>
            <a:ext cx="402336" cy="457367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2023Q2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552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1" y="2664480"/>
            <a:ext cx="402336" cy="398759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7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2023Q3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79" y="2390160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1" y="2862072"/>
            <a:ext cx="402336" cy="201168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3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2023Q4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587752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66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7911" y="2651084"/>
            <a:ext cx="402336" cy="412155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2024Q1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99" y="2376764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2459472"/>
            <a:ext cx="402336" cy="603767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2024Q2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185152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13831" y="2564009"/>
            <a:ext cx="402336" cy="499230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1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2024Q3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2289689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6791" y="2862072"/>
            <a:ext cx="402336" cy="201168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2024Q4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79" y="2587752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9751" y="2598337"/>
            <a:ext cx="402336" cy="464902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3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2025Q1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2324017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1" y="2562813"/>
            <a:ext cx="402336" cy="500426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2025Q2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288493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05672" y="2667829"/>
            <a:ext cx="402336" cy="395410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2025Q3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393509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28631" y="2158061"/>
            <a:ext cx="402336" cy="905178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19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2025Q4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883741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81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51591" y="2051850"/>
            <a:ext cx="402336" cy="1011389"/>
          </a:xfrm>
          <a:prstGeom prst="rect">
            <a:avLst/>
          </a:prstGeom>
          <a:solidFill>
            <a:srgbClr val="6F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2026Q1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1777530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Segoe UI"/>
              </a:rPr>
              <a:t>83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74551" y="1764792"/>
            <a:ext cx="402336" cy="129844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0" y="3099816"/>
            <a:ext cx="822960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006B3F"/>
                </a:solidFill>
                <a:latin typeface="Segoe UI"/>
              </a:rPr>
              <a:t>2026Q2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1490472"/>
            <a:ext cx="822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006B3F"/>
                </a:solidFill>
                <a:latin typeface="Segoe UI"/>
              </a:rPr>
              <a:t>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1280160"/>
            <a:ext cx="1133856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DQS médio da base: 70.7 → 88.3 (+17.6) em 14 períodos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1783080"/>
            <a:ext cx="113385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Segoe UI"/>
              </a:rPr>
              <a:t>A virada em 2025Q4 coincide com a carga SEC completa daquele trimestre. Antes disso os trimestres eram SEC parciais, com completude baixa — a qualidade subiu por mais dados, não por método mais frouxo.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903720" y="3703320"/>
          <a:ext cx="4846316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7"/>
                <a:gridCol w="969263"/>
                <a:gridCol w="969263"/>
                <a:gridCol w="969263"/>
              </a:tblGrid>
              <a:tr h="265176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Empresa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DQS inicial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DQS atual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Variação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BP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72.5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83.4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+10.9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72.5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89.4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+16.9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Equinor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66.5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76.3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+9.8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ExxonMobil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72.5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81.7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+9.2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Petrobras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75.4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99.8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+24.4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Shell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72.5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95.4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+22.9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TotalEnergies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69.5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92.4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+22.9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411480" y="370332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Um ponto por empresa × período, gravado só quando o DQS muda de verdade: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a série mostra evolução da qualidade, não log de execução.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Maior evolução: Petrobras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75,4 → 99,8. Ainda em REVISAR: Equinor, 66,5 → 76,3.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Quem melhorou mais não é quem tem mais dado —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é quem tem dado completo nos dois extremos da série.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/>
          <p:nvPr/>
        </p:nvSpPr>
        <p:spPr>
          <a:xfrm>
            <a:off x="9546335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2624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5768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80160"/>
            <a:ext cx="2221991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12. Fila de análise priorizada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que exige olho humano, em ordem de urgência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877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itens na fila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D97706"/>
                </a:solidFill>
                <a:latin typeface="Segoe UI"/>
              </a:rPr>
              <a:t>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abertos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alertas 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regras de desvio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5" y="1280160"/>
            <a:ext cx="2221991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5" y="1335024"/>
            <a:ext cx="2221991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5" y="1773936"/>
            <a:ext cx="2221991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decisões registradas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468880"/>
            <a:ext cx="10789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P1 urgente · P2 revisar · P3 completar — sempre com o código do motivo.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Escalonamento automático por repetição: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um código de alerta que se repete mais de 3 vezes sobe um nível (P3→P2→P1). O DRIFT_ZSCORE da BP apareceu 39 vezes e foi para o topo em vez de se diluir.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As 9 regras, com limiar calibrável em tb_regra_alerta (sem tocar em código):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DRIFT_ZSCORE · QUEBRA_ESTRUTURAL · CONTAGEM_PERIODO · REVISAO_ENTRE_EXECUCOES · ATRASO_TRIMESTRE · BAIXA_CONFIANCA · SEM_FONTE · RUBRICA_AUSENTE · OUTLIER_CROSS_SECTIONAL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Contrato de dados: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tipos, obrigatoriedade, domínio e convenção de sinal verificados ao fim de cada execução — aponta a linha exata. 393 fatos verificados, 0 violações.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13. Alerta cross-sectional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As outras 8 regras comparam com a própria história; esta compara com os 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Pergunta: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"esta empresa está fora da curva dos pares neste trimestre?"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Cálculo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grupo = (trimestre, rubrica); z = (valor − média) ÷ desvio do grupo.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Limiar |z| ≥ 1,8, gravado em tb_regra_alerta (calibrável sem código).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Piso de 4 empresas por grupo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sem ele, num grupo de 2 ou 3 qualquer diferença vira z alto.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Só entra o que é comparável entre oil &amp; gas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receita, EBITDA, lucro, FCO, CAPEX e dívida. Efetivo fica de fora: efetivo menor é o esperado numa empresa com menos employees — não é anomalia.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325880"/>
          <a:ext cx="5029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14400"/>
                <a:gridCol w="1143000"/>
                <a:gridCol w="19812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Empresa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Trimestre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Métrica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Posição no grupo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2026Q2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FCO 45,32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+2,0σ (7 empresas, média 20,35)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2026Q1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FCO 29,85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+2,4σ (7 empresas, média 9,21)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2025Q4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FCO 33,94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+2,3σ (7 empresas, média 12,35)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BP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2025Q4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Lucro −3,42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−2,1σ (6 empresas, média 1,78)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PETROBRAS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2026Q2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CAPEX 0,01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−1,9σ (5 empresas, média 3,02)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PETROBRAS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2026Q1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CAPEX 0,01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−1,9σ (6 empresas, média 3,61)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029200"/>
            <a:ext cx="1097280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432A"/>
                </a:solidFill>
                <a:latin typeface="Segoe UI"/>
              </a:rPr>
              <a:t>O achado que importa: CAPEX da Petrobras a 0,01 USD bi contra pares em 3,09 a 4,54. A série não caiu 98% — o valor NÃO foi extraído (a planilha tem linhas de projeto, não o consolidado). A comparação com os pares foi o que revelou.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14. Projeção estatística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método é escolhido por medição, nunca por suposição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234"/>
                <a:gridCol w="5875949"/>
                <a:gridCol w="3580656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Dados na série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Método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Intervalo de 95%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1 ponto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repete o último valor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±15%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2 a 5 pontos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média da série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± 2 desvios-padrão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>
                          <a:latin typeface="Segoe UI"/>
                        </a:defRPr>
                      </a:pPr>
                      <a:r>
                        <a:t>6 ou mais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backtesting entre Sazonal-Naive, Holt-Winters amortecido (φ=0,85) e Última-Observação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Segoe UI"/>
                        </a:defRPr>
                      </a:pPr>
                      <a:r>
                        <a:t>pela dispersão dos erros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0040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Método escolhido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Pontos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Critério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REPETIR_15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 ponto na série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MEDIA_2DP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78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 a 5 pontos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ULTIMA_OBSERVACAO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backtesting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SAZONAL_NAIVE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backtesting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HOLT_WINTERS_DAMPED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backtesting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320040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O intervalo alarga com o horizonte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(√h, pela dispersão dos erros)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Projeção nunca vira fato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vive em tb_projecao, fora da matriz, sempre rotulada.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Cobertura auditada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49 séries · 147 pontos · 10 de 10 rubricas com fato têm projeção.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432A"/>
                </a:solidFill>
                <a:latin typeface="Segoe UI"/>
              </a:rPr>
              <a:t>Confiança média das projeções: 0.5. Com poucos pontos o método e a confiança degradam de forma explícita — a projeção não se apresenta com a mesma segurança da série longa.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15. Governança — o que foi anunciado e ainda não está aqui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ETL responde o que eu tenho; a descoberta responde o que falta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SEC EDGAR como canal confiável: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submissions diz o que foi protocolado (e a reportDate define o trimestre); companyfacts traz o número estruturado por tag XBRL, com frame trimestral.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A lacuna de XBRL é o sinal-chave: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o trimestre foi comunicado, mas o frame CY20xxQn ainda não existe — é "ainda não dá para fechar o trimestre", dito explicitamente.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Documento principal de 6-K é só a capa: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as demonstrações estão nos anexos (Shell: 48 · Chevron: 70) e o número vem do companyfacts.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Exceção declarada, nunca disfarçada: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Chevron e BP devolvem HTTP 403 e Petrobras/Equinor usam página dinâmica — o relatório diz isso em vez de fingir cobertura.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1325880"/>
          <a:ext cx="42062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Empresa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CIK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Formulário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Petrobras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0001119639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6-K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Shell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0001306965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6-K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BP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0000313807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6-K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Chevron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0000093410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10-Q · 8-K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ExxonMobil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0000034088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10-Q · 8-K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TotalEnergies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0000879764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6-K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00">
                          <a:latin typeface="Segoe UI"/>
                        </a:defRPr>
                      </a:pPr>
                      <a:r>
                        <a:t>Equinor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0001140625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Segoe UI"/>
                        </a:defRPr>
                      </a:pPr>
                      <a:r>
                        <a:t>6-K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3931920"/>
            <a:ext cx="42062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432A"/>
                </a:solidFill>
                <a:latin typeface="Segoe UI"/>
              </a:rPr>
              <a:t>Fontes primárias: release e demonstrações do RI de cada empresa (136 PDFs + 27 planilhas).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432A"/>
                </a:solidFill>
                <a:latin typeface="Segoe UI"/>
              </a:rPr>
              <a:t>Fontes secundárias: SEC XBRL, usada como conferência e preenchimento de lacuna — nunca sobrescreve o dado da RI.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10703052" y="1325880"/>
            <a:ext cx="973836" cy="96012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74352" y="1325880"/>
            <a:ext cx="973836" cy="96012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5652" y="1325880"/>
            <a:ext cx="973836" cy="96012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16952" y="1325880"/>
            <a:ext cx="973836" cy="96012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16. Auditoria e relatório em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Quem decidiu o quê, quando e com qual justificativa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6675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Trilha de decisão append-only em tb_auditoria_decisao.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aceitar → RESOLVIDO · rejeitar · ignorar · reabrir (volta para a fila sem apagar a decisão anterior).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Relatório em PDF com o período escolhido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situação da auditoria · aging da fila · quem decidiu · a trilha do período com empresa, período e rubrica do item auditado · a fila no encerramento.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▪  Gerado por três caminhos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▪  CLI: app_main.py auditoria relatorio --de … --ate …  ·  botão na aba Auditoria (web e desktop)  ·  GET /api/auditoria?pdf=1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325880"/>
            <a:ext cx="973836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380744"/>
            <a:ext cx="9738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134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1819656"/>
            <a:ext cx="973836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alertas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5652" y="1325880"/>
            <a:ext cx="973836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5652" y="1380744"/>
            <a:ext cx="9738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877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5652" y="1819656"/>
            <a:ext cx="973836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itens na fila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1325880"/>
            <a:ext cx="973836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1380744"/>
            <a:ext cx="9738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D97706"/>
                </a:solidFill>
                <a:latin typeface="Segoe UI"/>
              </a:rPr>
              <a:t>875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1819656"/>
            <a:ext cx="973836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ainda abertos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03052" y="1325880"/>
            <a:ext cx="973836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3052" y="1380744"/>
            <a:ext cx="9738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06B3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03052" y="1819656"/>
            <a:ext cx="973836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decisões registradas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514600"/>
            <a:ext cx="4114800" cy="2103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432A"/>
                </a:solidFill>
                <a:latin typeface="Segoe UI"/>
              </a:rPr>
              <a:t>Correção do próprio sistema: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432A"/>
                </a:solidFill>
                <a:latin typeface="Segoe UI"/>
              </a:rPr>
              <a:t>a taxa de resolução anunciava 100% com 875 itens abertos — o denominador era o número de tipos de decisão, não o total. Agora são 50% (2 de 4), e o painel mostra os dois contadores.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17. Glossário de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O que cada número significa, em que unidade e com que sinal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694943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728"/>
                <a:gridCol w="2411030"/>
                <a:gridCol w="850951"/>
                <a:gridCol w="1843728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Código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Nome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Unidade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Sinal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RECEITA_LIQUIDA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Receita líquida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EBITDA_AJUSTADO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EBITDA ajustado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LUCRO_LIQUIDO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Lucro líquido (acionistas)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FCO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Fluxo de caixa operacional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DIVIDA_LIQUIDA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Dívida líquida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CAPEX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Investimentos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 (saída de caixa)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DESPESA_OPERACIONAL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Despesas operacionais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USD bi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6B3F"/>
                          </a:solidFill>
                          <a:latin typeface="Segoe UI"/>
                        </a:defRPr>
                      </a:pPr>
                      <a:r>
                        <a:t>NEGATIVO (redutora)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EFETIVO_TOTAL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Total de efetivo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pessoas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PRODUCAO_BOED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Produção total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kboed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positivo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32588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Por que importa: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sem convenção de sinal explícita, despesa positiva e CAPEX negativo invertem a leitura de qualquer gráfico.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Inclui fórmula e dependências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de quais rubricas cada indicador derivado depende.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▪  Disponível na web, no desktop e no e-mail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▪  é a leitura necessária para interpretar os gráficos, não um apêndice.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18. O que os testes encontraram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20 bugs reais — e não por leitura de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83"/>
                <a:gridCol w="6595818"/>
                <a:gridCol w="4197338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Como apareceu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Transcrição 1T25.pdf era parseado (skip-list sem acento)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 de classificação de PDF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R$ lido como USD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 de moeda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IC95 invertido em série negativa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 de projeção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ZeroDivisionError na aba Qualidade com execução sem carga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suíte completa, após o modo incremental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Duração medida antes do parse zerava a coluna do painel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 do painel de ETL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Taxa de resolução em 100% com 875 itens abertos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auditoria resumo na base real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GUI quebrava com base vazia (API removida no pyqtgraph 0.14)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teste da aba Projeções sem projeção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Lista fixa de rubricas deixava 3 indicadores sem projeção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Segoe UI"/>
                        </a:defRPr>
                      </a:pPr>
                      <a:r>
                        <a:t>verificação pedida pelo usuário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97280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432A"/>
                </a:solidFill>
                <a:latin typeface="Segoe UI"/>
              </a:rPr>
              <a:t>O mais honesto: a projeção não cobria FCL, DIVIDA_BRUTA e DESPESA_OPERACIONAL por causa de uma lista fixa no código, sem aviso na tela. Hoje é dirigida pelos dados e a aba mostra a cobertura — 10 de 10. Isso só apareceu porque alguém perguntou.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19. Limites e riscos assumidos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Assumir o limite é o que dá credibilidade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92838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59"/>
                <a:gridCol w="2926079"/>
                <a:gridCol w="434340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Limite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Como está registrado</a:t>
                      </a:r>
                    </a:p>
                  </a:txBody>
                  <a:tcPr marL="36576" marR="36576">
                    <a:solidFill>
                      <a:srgbClr val="006B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RI dinâmico (Petrobras, Equinor) ou bloqueado (Chevron, BP: 403)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sem canal primário automatizado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relatório de descoberta mostra o erro por empresa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Documento principal do 6-K é a capa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comunicado é achado, número não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anexos do index.json + companyfacts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Histórico local concentrado em 2025–2026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2023–2024 dependem da SEC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2 testes marcados como skip, explicitamente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Cobertura de rubricas desigual entre empresas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LUCRO_BRUTO só na Petrobras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DQS de completude torna visível em vez de esconder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Cobertura de 36,5% das páginas no PDF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parse lê 12 páginas (30 em DF)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"cobertura" exibida ao lado do throughput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Métrica de leitura em 133 PDFs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581 fontes sem arquivo local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ficam fora da média (não medido ≠ mediu zero)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Série curta não é tendência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projeção com intervalo largo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método e confiança degradam explicitamente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50">
                          <a:latin typeface="Segoe UI"/>
                        </a:defRPr>
                      </a:pPr>
                      <a:r>
                        <a:t>IFRS 16 não é homogeneizado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CAPEX e EBITDA divergem entre empresas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latin typeface="Segoe UI"/>
                        </a:defRPr>
                      </a:pPr>
                      <a:r>
                        <a:t>registrado como backlog</a:t>
                      </a:r>
                    </a:p>
                  </a:txBody>
                  <a:tcPr marL="36576" marR="36576">
                    <a:solidFill>
                      <a:srgbClr val="F2F5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20.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Do que é manutenção para o que é/value 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Ler os anexos do arquivamento SEC em profundidade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hoje eu entrego o arquivo, não a tabela que está dentro dele.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Rolling-origin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recalcular o passado e medir o erro real das projeções — hoje tenho método por backtesting, ainda não backtest ao longo da história viva.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Cenários com Brent/FX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e intervalo que responda à covariância dos fatores, não a uma soma de erros.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Método escolhido por rubrica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dívida é nível, não sazonalidade — a escolha não pode ser global.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Cache de texto por hash de PDF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mata o último custo do reprocessamento.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RI com render de JS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fecha o canal primário, hoje bloqueado em 2 de 7 empresas.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▪  Score de proveniência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▪  profundidade da cadeia: RI → SEC → derivada.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/>
          <p:nvPr/>
        </p:nvSpPr>
        <p:spPr>
          <a:xfrm>
            <a:off x="9613392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0791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2992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4572000"/>
            <a:ext cx="1697736" cy="914400"/>
          </a:xfrm>
          <a:prstGeom prst="rect">
            <a:avLst/>
          </a:prstGeom>
          <a:solidFill>
            <a:srgbClr val="F2F5F3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CD00"/>
                </a:solidFill>
                <a:latin typeface="Segoe UI"/>
              </a:rPr>
              <a:t>O que eu quero que levem deste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"Não é o dashboard. É a cadeia de decisões: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de onde veio este número, ele é confiável, e o que ainda precisa de olho humano.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O painel mostra o resultado. O que sustenta o resultado é a procedência, a régua de qualidade e a fila de quem precisa conferir."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272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2992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2992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871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2992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fontes catalogadas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5592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5592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75.5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5592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DQS 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projeções em 49 séries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0791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0791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0791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erros de carga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3392" y="4572000"/>
            <a:ext cx="1697736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3392" y="4626864"/>
            <a:ext cx="1697736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110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3392" y="5065776"/>
            <a:ext cx="169773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50">
                <a:solidFill>
                  <a:srgbClr val="5A6472"/>
                </a:solidFill>
                <a:latin typeface="Segoe UI"/>
              </a:rPr>
              <a:t>testes automatizados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FD9CC"/>
                </a:solidFill>
                <a:latin typeface="Segoe UI"/>
              </a:rPr>
              <a:t>app_main.py web --serve · app_main.py auditoria relatorio --de … --ate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